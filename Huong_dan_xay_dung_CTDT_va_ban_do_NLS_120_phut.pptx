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457200"/>
            <a:ext cx="4663440" cy="7589520"/>
          </a:xfrm>
          <a:prstGeom prst="roundRect">
            <a:avLst/>
          </a:prstGeom>
          <a:solidFill>
            <a:srgbClr val="15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960120"/>
            <a:ext cx="2606040" cy="1417320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75904" y="1170432"/>
            <a:ext cx="23134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6 MIỀN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75904" y="1673352"/>
            <a:ext cx="2313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BỨC TRANH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2606040"/>
            <a:ext cx="2331720" cy="1325880"/>
          </a:xfrm>
          <a:prstGeom prst="round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18904" y="2816352"/>
            <a:ext cx="203911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24 NLTP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3319272"/>
            <a:ext cx="2039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CHI TIẾT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142232"/>
            <a:ext cx="3246120" cy="1298448"/>
          </a:xfrm>
          <a:prstGeom prst="roundRect">
            <a:avLst/>
          </a:prstGeom>
          <a:solidFill>
            <a:srgbClr val="24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4352544"/>
            <a:ext cx="295351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CLO →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4855464"/>
            <a:ext cx="29535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MINH CHỨNG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749808"/>
            <a:ext cx="621792" cy="64008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033271"/>
            <a:ext cx="6812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3BED0"/>
                </a:solidFill>
                <a:latin typeface="Aptos"/>
              </a:rPr>
              <a:t>CHIA SẺ CHUYÊN MÔN · 120 PHÚT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18488"/>
            <a:ext cx="6766560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TỪ ĐỀ CƯƠNG ĐẾN BẢN ĐỒ NĂNG LỰC SỐ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57600"/>
            <a:ext cx="630936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D2E1EC"/>
                </a:solidFill>
                <a:latin typeface="Aptos"/>
              </a:rPr>
              <a:t>Hướng dẫn sử dụng dự án để rà soát và xây dựng chương trình đào tạo theo ngành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6766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BED0"/>
                </a:solidFill>
                <a:latin typeface="Aptos"/>
              </a:rPr>
              <a:t>DỮ LIỆU CHUẨN  ·  RÀ SOÁT CHUYÊN MÔN  ·  CẢI TIẾN CÓ LƯU VẾT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18504"/>
            <a:ext cx="9235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B2C6D6"/>
                </a:solidFill>
                <a:latin typeface="Aptos"/>
              </a:rPr>
              <a:t>Mời người tham dự giới thiệu ngành/khoa và một khó khăn khi rà soát CTĐT.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2C6D6"/>
                </a:solidFill>
                <a:latin typeface="Aptos"/>
              </a:rP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Lộ trình 120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Nắm cách làm — xem demo — thực hành trên một học phần — thống nhất bước tiếp theo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66544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8483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Bối cảnh &amp; nguyên tắc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1576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10 phút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193852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8367" y="2066544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7008" y="208483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Mô hình ánh xạ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7008" y="271576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20 phút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0623" y="193852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5215" y="2066544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3855" y="208483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Chuẩn bị dữ liệu &amp; triển khai ngành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855" y="271576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20 phút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8444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12463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3075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Demo chỉnh sửa trên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6168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20 phút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3775" y="358444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8367" y="3712463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7008" y="373075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Thực hành theo nhóm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7008" y="436168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35 phút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0623" y="358444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5215" y="3712463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3855" y="373075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Chia sẻ, hỏi đáp, hành động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3855" y="436168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15 phút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504688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Đầu ra cuối buổi: một học phần đã rà soát + bản sao lưu + quyết định cần đưa về hồ sơ chính thức.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Phần thực hành cần máy tính và một đề cương học phần mẫu.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Kết thúc buổi, thầy cô có thể…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Ba năng lực đầu ra thực tế, không đòi hỏi phải là lập trình viên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Chuẩn bị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Biết cần workbook, đề cương và quy ước nào để đưa một ngành vào dự 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Đọc và rà soát bản đồ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Phân biệt ma trận 6 miền, 24 NLTP và liên kết CLO; hiểu cảnh báo là tín hiệu đối chiếu.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Chỉnh sửa, lưu và chia sẻ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Sửa dữ liệu trên web, phân tích lại, xuất JSON và báo cáo làm căn cứ cập nhật đề cương.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Công cụ hỗ trợ minh bạch hóa quyết định; không thay hội đồng/bộ môn.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Vì sao cần bản đồ CTĐT – năng lực số?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Từ các bảng riêng lẻ đến một bức tranh xuyên suốt chương trình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Trước khi có bản đồ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Thông tin rải trong Excel, DOCX và kinh nghiệm giảng viên.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Khó nhìn độ phủ giữa học phần, CLO và năng lực thành phần.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Thay đổi đề cương dễ bỏ sót ma trận hoặc minh chứng.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Khi có bản đồ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Một điểm vào để xem CTĐT và liên kết ở nhiều cấp.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Nhìn chỗ chưa phủ/chưa nhất quán để thảo luận.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Đối chiếu bản gốc–bản rà soát khi cập nhật đề cương.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Hỗ trợ rà soát và giao tiếp chuyên môn; không tự động kết luận CTĐT đạt chuẩn.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Nguyên tắc quan trọng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Bản đồ tốt không phải bản đồ phủ kín mọi ô; bản đồ tốt thể hiện đúng ý đồ đào tạo và có minh chứng.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10881360" cy="1581912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78440" cy="11430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Công cụ kiểm tra được tính nhất quán của dữ liệu đã nhập.
Chỉ giảng viên và bộ môn xác nhận được tính phù hợp học thuật.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76472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703320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Không gắn năng lực chỉ để tăng số lượng hoặc làm đẹp biểu đồ.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15383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142231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Mỗi ánh xạ nên truy ngược tới CLO, hoạt động học tập và đánh giá.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54296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Cảnh báo là câu hỏi cần xem xét, không phải phán quyết dữ liệu sai.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Hỏi: một học phần có cần đóng góp vào tất cả 6 miền không? Không.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MÔ HÌNH ÁNH XẠ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Khung năng lực trong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Ví dụ cấu trúc hiện cấu hình: 6 miền và 24 năng lực thành phần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Khai thác dữ liệu &amp; thông 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Tìm kiếm, đánh giá và quản lý thông tin số.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Giao tiếp &amp; hợp tác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Tương tác, chia sẻ, hợp tác và ứng xử số.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Sáng tạo nội dung số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Tạo, tích hợp và sử dụng nội dung số.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593591"/>
            <a:ext cx="50292" cy="1508760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An toàn số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Thiết bị, dữ liệu cá nhân, sức khỏe và môi trường.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593591"/>
            <a:ext cx="50292" cy="1508760"/>
          </a:xfrm>
          <a:prstGeom prst="rect">
            <a:avLst/>
          </a:prstGeom>
          <a:solidFill>
            <a:srgbClr val="BE4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BE414D"/>
                </a:solidFill>
                <a:latin typeface="Aptos"/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Giải quyết vấn đề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Lựa chọn, sử dụng và cải thiện giải pháp số.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19" y="3593591"/>
            <a:ext cx="50292" cy="1508760"/>
          </a:xfrm>
          <a:prstGeom prst="rect">
            <a:avLst/>
          </a:prstGeom>
          <a:solidFill>
            <a:srgbClr val="6A7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A75D4"/>
                </a:solidFill>
                <a:latin typeface="Aptos"/>
              </a:rPr>
              <a:t>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3730752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Ứng dụng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Hiểu biết, sử dụng có trách nhiệm và đánh giá AI.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Đối chiếu tên miền/tiêu chí với khung chính thức trường/ngành đã thống nhất.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MÔ HÌNH ÁNH XẠ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Chuỗi truy vết: từ mục tiêu đến minh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Ánh xạ chỉ hữu ích khi các mắt xích hỗ trợ lẫn nhau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Mục tiêu CTĐT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Ngành xác định năng lực người học cần đạt.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Học phần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Chọn học phần có đóng góp thật trong lộ trình.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Diễn đạt hành động quan sát/đánh giá được.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NLTP &amp; mức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Gắn năng lực thành phần, miền và mức phù hợp.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Dạy – đánh giá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Hoạt động và đánh giá tạo minh chứng đạt CLO.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Đây là luồng truy vết, không phải thuật toán thiết kế CTĐT cứng nhắc.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MÔ HÌNH ÁNH XẠ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Hai ma trận trả lời hai câu hỏi khác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Dự án hiện cung cấp ma trận 6 miền và ma trận 24 NLTP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Ma trận 6 miền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Mỗi hàng là một học phần.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Mỗi cột thể hiện miền và mức đóng góp dự kiến.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Cho bức tranh bao quát và độ phủ theo học phần.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36592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Cuối bảng đếm theo miền; giá trị 0/thấp được nhấn màu.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Ma trận 24 NLTP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Đi sâu từ miền xuống từng năng lực thành phần.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Ô được đánh dấu cho biết học phần có ánh xạ tới NLTP.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Cuối bảng đếm số học phần theo từng NLTP.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736592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663440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Lọc học phần sẽ cập nhật hàng tổng theo kết quả lọc.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Số đếm biểu thị độ phủ, không tự thể hiện chất lượng hay mức thành thạo.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MÔ HÌNH ÁNH XẠ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CLO là điểm neo của ánh xạ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Các trường chi tiết dùng để kiểm tra và rà soát liên kết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CLO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Mã &amp; nội dung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Mã duy nhất trong học phần; mô tả điều người học thực hiện được.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NLTP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Miền &amp; năng lực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Liên kết tới miền NLS và mã năng lực thành phần cụ thể.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MỨC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Mức độ dự kiến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Diễn giải kỳ vọng đóng góp/đạt được theo khung.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593591"/>
            <a:ext cx="50292" cy="1508760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Chỉ báo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Làm rõ khía cạnh/kết quả quan sát cần đạt.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593591"/>
            <a:ext cx="50292" cy="1508760"/>
          </a:xfrm>
          <a:prstGeom prst="rect">
            <a:avLst/>
          </a:prstGeom>
          <a:solidFill>
            <a:srgbClr val="BE4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BE414D"/>
                </a:solidFill>
                <a:latin typeface="Aptos"/>
              </a:rPr>
              <a:t>ĐÁNH GIÁ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Phương pháp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Bài tập, thực hành, dự án, bài kiểm tra tạo minh chứng.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Hỏi: cách đánh giá có đo được CLO/PI hay chỉ đang ghi tên phương pháp?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Luồng dữ liệu của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Giữ dữ liệu có cấu trúc, sinh website, rà soát và xuất kết quả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Nguồn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Excel khung/ma trận; Excel ánh xạ CLO; tùy chọn BM03 và DOCX.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Cấu hình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program_config.json trỏ tới dữ liệu, sheet và thông tin ngành.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build_data.py sinh curriculum_data.json, data.js, index.html.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Rà soát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Mở website, đối chiếu, sửa và phân tích trong trình duyệt.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Đầu 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Sao lưu JSON, báo cáo HTML/PDF, cập nhật hồ sơ nguồn sau phê duyệt.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Nhóm chuyên môn quyết định và cập nhật hồ sơ chính thức.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Chuẩn bị bộ hồ sơ của một ngành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Dùng cùng cấu trúc biểu mẫu là cách nhanh nhất để tái sử dụng dự 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CẦN CÓ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Workbook khung &amp; ma trận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Sheet tra cứu khung NLS, ma trận 6 miền, 24 NLTP, gợi ý/minh chứng.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CẦN CÓ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Workbook ánh xạ 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Mã/tên học phần, miền, NLTP, mức, CLO, PI, phương pháp đánh giá.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TÙY CHỌN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BM03 kế hoạch đào tạo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Học kỳ, số tín chỉ và phân bổ giờ học cho ngữ cảnh CTĐT.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593591"/>
            <a:ext cx="50292" cy="1508760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TÙY CHỌN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DOCX tóm tắt học phần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Tiêu đề có mã học phần; mô tả và tài liệu tham khảo được tách riêng.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Mỗi ngành nên chỉ định người quản lý phiên bản và người xác nhận nội dung.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Kiểm tra nguồn trước khi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Sai cấu trúc đầu vào thường gây thiếu hoặc ghép nhầm nội dung đầu 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984248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7510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Mã học phần thống nhất giữa workbook ma trận, CLO, BM03 và DOCX.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560320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51176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Tên sheet khớp cấu hình; không đổi thứ tự/cột nếu chưa cập nhật bộ đọc.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136391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Mỗi CLO có mã; miền và NLTP là mã hợp lệ trong khung sử dụng.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712463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03320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66744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Tiêu đề DOCX nhất quán: mã + dấu gạch ngang hoặc khoảng trắng/tab + tên.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88536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279392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42816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Xác nhận môn tự chọn/tương đương/mã cũ; ngoại lệ phải có căn cứ.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864607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85546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Giữ một bản nguồn bất biến để đối chiếu sau build.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Kiểm tra môn đầu/giữa/cuối và các mã ngoại lệ trước khi tin toàn bộ kết quả.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Cấu hình ngành mới: sửa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Mỗi bản triển khai có thư mục riêng và một program_config.json riêng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39112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020824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D2F43"/>
                </a:solidFill>
                <a:latin typeface="Aptos"/>
              </a:rPr>
              <a:t>Tên trường, khoa, ngành, khóa, khung, ngày cập nhật và thông tin tải tệp.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06624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843784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25496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D2F43"/>
                </a:solidFill>
                <a:latin typeface="Aptos"/>
              </a:rPr>
              <a:t>Đường dẫn tới workbook ma trận, mẫu CLO, BM03, DOCX và dữ liệu tùy chọn.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511296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648456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30168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D2F43"/>
                </a:solidFill>
                <a:latin typeface="Aptos"/>
              </a:rPr>
              <a:t>Tên sheet trong workbook; phải khớp với tệp nguồn.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315968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453128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courseCodeOverrides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434840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D2F43"/>
                </a:solidFill>
                <a:latin typeface="Aptos"/>
              </a:rPr>
              <a:t>Ngoại lệ có chủ đích như môn tự chọn thiếu dữ liệu/mã thay thế.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120640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5257800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outputDirectory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239512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D2F43"/>
                </a:solidFill>
                <a:latin typeface="Aptos"/>
              </a:rPr>
              <a:t>Vị trí sinh dataset và đồng bộ trang; mặc định thư mục cấu hình.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Không để sót nhãn CNTT trong cấu hình ngành mới.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Quy trình triển khai nhanh cho ngành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Không cần sửa giao diện nếu dữ liệu tuân theo cùng mẫu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Sao chép dự 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Tạo thư mục riêng cho ngành; giữ bản mẫu gốc an toàn.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Đặt nguồn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Đưa workbook và DOCX vào thư mục ngành.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Sửa cấu hình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Cập nhật metadata, files, sheets, tải xuống và ngoại lệ.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Cài thư viện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Python, openpyxl và python-docx theo requirements.txt.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Chạy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PowerShell: .\.venv\Scripts\python.exe build_data.py --config .\program_config.json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6239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62543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2543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1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Kiểm 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7408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So số liệu và nội dung mẫu; mở index.html rồi triển khai web tĩnh.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Nếu sheet/cột hoặc bố cục khác mẫu, chuẩn hóa dữ liệu hoặc sửa bộ đọc.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Ví dụ lỗi thực tế: nhiều dòng bị dồn vào một môn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Trong DOCX, mã và tên có thể phân cách bằng tab thay vì dấu gạch ngang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Dấu hiệu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Mô tả/tài liệu tham khảo chứa cả mã môn kế tiếp.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Một số môn thiếu summary hoặc references trông bất thường.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Website phản ánh đúng dữ liệu parser tạo ra, nhưng parser đọc sai ranh giới.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Cách phòng ngừa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Kiểm tra cấu trúc tiêu đề và ranh giới tài liệu tham khảo.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So sánh dữ liệu sinh với 5–7 môn ở nhiều vị trí DOCX.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Sửa bộ đọc, build lại và kiểm tra từng mã bị ảnh hưởng.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Bộ đọc đã được mở rộng để nhận cả tab/khoảng trắng và dấu gạch ngang.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Sau build: nghiệm thu dữ liệu, không chỉ giao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Đối chiếu theo các lát cắt độc lập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984248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7510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Số học phần khớp CTĐT/BM03; xử lý rõ môn trùng, thiếu hoặc mã cũ.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560320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51176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Số CLO và CLO theo mã học phần khớp workbook ánh xạ.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136391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Mở thử DOCX: mô tả không dính sang môn kế tiếp; references đúng môn.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712463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03320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66744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Đối chiếu môn đại cương, chuyên ngành, thực hành, tự chọn.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88536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279392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42816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Xem ma trận 6/24 và hàng tổng; số đếm khớp dữ liệu nguồn.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864607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85546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Phân loại lỗi nguồn, cấu hình, bộ đọc hay ý kiến chuyên môn.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Có checklist và người xác nhận; không chỉ người chạy build tự nghiệm thu.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Demo 1 · Đọc bản đồ trước khi sửa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Bắt đầu bằng câu hỏi chuyên môn, không bắt đầu bằng cách nhấn nút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Mở tổng quan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Đọc độ phủ miền/NLTP và số học phần/CLO.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Mở hai ma trận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Đọc theo hàng học phần, cột năng lực và số tổng.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Chọn một môn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Mở CLO chi tiết; kiểm tra mã, nội dung, đánh giá.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Ghi câu hỏi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Thiếu minh chứng? Sai liên kết? Mức đóng góp chưa hợp lý?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Demo trên môn quen thuộc; không thay dữ liệu thật trước khi có bản sao lưu.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Demo 2 · Chỉnh sửa và phân tích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Tab “Chỉnh Sửa &amp; Phân Tích” làm việc theo từng học phần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Chọn học phần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Đọc số lưu ý, lý do và đề xuất đối chiếu.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Sửa ánh xạ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Chọn mức ở ma trận 6; đánh dấu NLTP ở ma trận 24.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Sửa CLO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Cập nhật mã/nội dung/miền/NLTP/mức/PI/đánh giá.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Sửa đề cương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Cập nhật tóm tắt và tài liệu theo bản thống nhất.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Lưu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Lưu và phân tích lại; xem bảng, tổng, biểu đồ, cảnh báo.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Cảnh báo kiểm tra cấu trúc; người dùng quyết định chỉnh hay ghi nhận ngoại lệ.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Đọc cảnh báo: con số phải dẫn đến hành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Một cảnh báo thường là quan hệ chưa khớp giữa các bảng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Miền chưa có CLO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Ma trận 6 đánh dấu miền nhưng chưa có CLO tương ứng. Đối chiếu CLO/ma trận.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NLTP chưa gắn 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Ma trận 24 đã chọn nhưng CLO chưa thể hiện. Bổ sung CLO hoặc bỏ chọn.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CLO chưa chọn ở ma trận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CLO có NLTP nhưng ma trận 24 chưa đánh dấu. Kiểm tra hai phía.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593591"/>
            <a:ext cx="50292" cy="1508760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Miền và NLTP lệch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Miền của CLO khác miền NLTP. Kiểm tra mã năng lực hoặc miền.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593591"/>
            <a:ext cx="50292" cy="1508760"/>
          </a:xfrm>
          <a:prstGeom prst="rect">
            <a:avLst/>
          </a:prstGeom>
          <a:solidFill>
            <a:srgbClr val="BE4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BE414D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Mã CLO trùng/thiếu tóm tắt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Sửa mã duy nhất; bổ sung mục tiêu/tóm tắt theo đề cương.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Mở học phần trực tiếp từ danh sách; hệ thống không tự sửa nội dung.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Điều chỉnh nào được lưu ở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Phân biệt lưu trên trình duyệt với cập nhật dữ liệu nguồn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10881360" cy="1581912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78440" cy="11430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Chỉnh sửa web → localStorage của trình duyệt hiện tại
Sao lưu/di chuyển → xuất/nhập JSON đúng ngành
Hồ sơ chính thức → nhóm chuyên môn cập nhật Excel/DOCX sau phê duyệt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76472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703320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Web không tự ghi ngược vào workbook hoặc máy chủ.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15383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142231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Trình duyệt/máy khác không tự thấy chỉnh sửa; cần nhập JSON.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54296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Báo cáo phản ánh trạng thái đã lưu tại thời điểm xuất.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9320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5020056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Khôi phục dữ liệu gốc xóa chỉnh sửa local của ngành.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Tránh nhầm bản nháp trình duyệt với đề cương đã ban hành.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Từ chỉnh sửa đến cập nhật đề cương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Một vòng lặp có kiểm soát, có người chịu trách nhiệm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Đề xuất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Ghi vấn đề, học phần, căn cứ và người đề xuất.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Rà soát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Chỉnh web, đọc cảnh báo, thảo luận bộ môn.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Báo cáo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Xuất HTML; in/lưu PDF làm hồ sơ phiên rà soát.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Phê duyệt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Đối chiếu CLO/PI/đánh giá theo quy trình học thuật.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Cập nhật nguồn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Sửa Excel/DOCX chính thức, tăng phiên bản, build lại.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6239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62543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2543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1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Lưu vết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7408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Lưu nguồn, config, JSON/PDF, ngày và người duyệt.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Workbook/DOCX đã phê duyệt là nguồn chuẩn cho lần build sau.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THỰC HÀNH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Thử thách nhóm · Rà soát một học phần trong 35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Nhóm 3–5 người · chọn một học phần có ý nghĩa với ngành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93976"/>
            <a:ext cx="960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8 phút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084832"/>
            <a:ext cx="2514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Chọn môn &amp; chẩn đoán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57400"/>
            <a:ext cx="68122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Đọc ma trận 6/24, CLO và đề cương; thống nhất câu hỏi.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6148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916936"/>
            <a:ext cx="960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12 phút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907792"/>
            <a:ext cx="2514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Chỉnh và phân tích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880360"/>
            <a:ext cx="68122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Sửa liên kết, lưu, xem cảnh báo trước/sau.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8444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739896"/>
            <a:ext cx="960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8 phút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3730752"/>
            <a:ext cx="2514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Xuất đầu 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03320"/>
            <a:ext cx="68122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Tạo JSON sao lưu và báo cáo; ghi việc cần sửa trong đề cương.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0740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562856"/>
            <a:ext cx="960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7 phút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4553712"/>
            <a:ext cx="2514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Chuẩn bị chia sẻ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526280"/>
            <a:ext cx="68122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Trình bày căn cứ, minh chứng còn thiếu và câu hỏi mở.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40680"/>
            <a:ext cx="10972800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559552"/>
            <a:ext cx="10561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Sản phẩm nhóm: quyết định có căn cứ + danh sách sửa đề cương + JSON/PDF thử nghiệm.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Phân biệt chỉnh thử với thay đổi đã được bộ môn phê duyệt.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THỰC HÀNH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Phiếu rà soát nhanh cho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Bốn câu hỏi giúp thảo luận không dừng ở “ô đang trống”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984248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7510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CLO mô tả hành động/kết quả người học có thể chứng minh không?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560320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51176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NLTP/miền gắn có thể hiện trong nội dung và hoạt động học tập không?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136391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Mức đóng góp hợp lý với vị trí môn và môn tiên quyết/kế tiếp không?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712463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03320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66744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Đánh giá có thu được minh chứng đúng với CLO/PI không?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88536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279392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42816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Thiếu nội dung đề cương, hoạt động dạy hay minh chứng nào?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864607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85546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Đề xuất sửa gì trong nguồn chính thức, ai cần xác nhận?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Không cần làm mọi cảnh báo biến mất; cần giải thích quyết định.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THỰC HÀNH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Chia sẻ kết quả · 90 giây mỗi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Tập trung vào căn cứ và quyết định, không chỉ trình diễn giao diện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93392"/>
            <a:ext cx="540410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93392"/>
            <a:ext cx="50292" cy="132588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30552"/>
            <a:ext cx="439826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VẤN ĐỀ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24328"/>
            <a:ext cx="4992624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Học phần nào? Cảnh báo/dữ liệu nào đặt ra câu hỏi?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993392"/>
            <a:ext cx="540410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993392"/>
            <a:ext cx="50292" cy="132588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112264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2130552"/>
            <a:ext cx="439826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CĂN CỨ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24328"/>
            <a:ext cx="4992624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Đã đối chiếu đề cương, CLO, hoạt động và đánh giá ra sao?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02152"/>
            <a:ext cx="540410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02152"/>
            <a:ext cx="50292" cy="132588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21024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639312"/>
            <a:ext cx="439826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QUYẾT ĐỊNH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133087"/>
            <a:ext cx="4992624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Đề xuất thay đổi gì? Có cần cập nhật nguồn hay chỉ ghi nhận?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502152"/>
            <a:ext cx="540410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3502152"/>
            <a:ext cx="50292" cy="132588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621024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3639312"/>
            <a:ext cx="439826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BƯỚC TIẾP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133087"/>
            <a:ext cx="4992624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Ai tham gia/phê duyệt? Bằng chứng nào còn thiếu?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Mời nhóm khác hỏi: sẽ quan sát minh chứng nào để kết luận CLO đạt?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RÀ SOÁT &amp; QUẢN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Những nhầm lẫn 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Nhận biết sớm để không biến công cụ thành “máy tạo ma trận”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984248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7510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Đánh dấu càng nhiều ô càng tốt → độ phủ giả, không có minh chứng.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560320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51176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Xem 0 là lỗi chắc chắn → có thể là khoảng trống cần ưu tiên hoặc không thuộc môn.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136391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Xem 13 lưu ý là 13 lỗi → là điểm cần đối chiếu, có thể lặp theo nhiều môn.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712463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03320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66744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Chỉnh web rồi đóng trình duyệt → cần export JSON để giữ/chuyển chỉnh sửa.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88536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279392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42816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Build lại và thấy sửa mất → nguồn chưa được cập nhật sau phê duyệt.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864607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85546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Dùng chung output cho nhiều ngành → nguy cơ ghi đè; tách thư mục/config.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Tổng lượt ánh xạ không phải số học phần duy nhất; một môn có thể nằm nhiều miền.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RÀ SOÁT &amp; QUẢN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Đề xuất quy trình làm việc cấp khoa/ngành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Giảm sửa trùng, sai phiên bản và thiếu dấu vết quyết định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265633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48840"/>
            <a:ext cx="50292" cy="2267712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286000"/>
            <a:ext cx="16504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Chủ trì CTĐT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6"/>
            <a:ext cx="2244851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Chốt phạm vi, nguồn chuẩn, khung và lịch rà soát.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9564" y="2148840"/>
            <a:ext cx="265633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9564" y="2148840"/>
            <a:ext cx="50292" cy="2267712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0732" y="2267712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9100" y="2286000"/>
            <a:ext cx="16504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Giảng viên môn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9876" y="2779776"/>
            <a:ext cx="2244851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Xác nhận CLO, hoạt động dạy và minh chứng đánh giá.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48840"/>
            <a:ext cx="265633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148840"/>
            <a:ext cx="50292" cy="2267712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267712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2286000"/>
            <a:ext cx="16504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Điều phối dữ liệu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779776"/>
            <a:ext cx="2244851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Quản lý nguồn/config, build và bản sao lưu.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4836" y="2148840"/>
            <a:ext cx="265633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4836" y="2148840"/>
            <a:ext cx="50292" cy="2267712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6004" y="2267712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4372" y="2286000"/>
            <a:ext cx="1650491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Bộ môn/Hội đồng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148" y="2779776"/>
            <a:ext cx="2244851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Thảo luận, phê duyệt và chốt phiên bản chính thức.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18888"/>
            <a:ext cx="1088136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C1B30"/>
                </a:solidFill>
                <a:latin typeface="Aptos"/>
              </a:rPr>
              <a:t>Quyết định cần để lại dấu vết: nội dung · lý do · người góp ý/phê duyệt · ngày hiệu lực · phiên bản nguồn.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Ghi phiên bản, ngày build, người cập nhật và trạng thái phê duyệt.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KẾT THÚC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Kế hoạch 30 ngày sau buổi chia sẻ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Từ demo thành thử nghiệm có đầu ra và người chịu trách nhiệm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TUẦN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Chốt dữ liệu mẫu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Chọn ngành thí điểm; thống nhất biểu mẫu và chủ nguồn.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TUẦN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Build &amp; nghiệm thu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Cấu hình, sinh website, dùng checklist kiểm tra.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TUẦN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Rà soát theo nhóm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Chọn môn đại diện; thảo luận cảnh báo và cập nhật.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TUẦN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Phê duyệt &amp; nhân rộng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Chốt nguồn, lưu vết và quyết định triển khai tiếp.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Mỗi đơn vị nêu một hành động, người phụ trách và ngày hoàn thành.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457200"/>
            <a:ext cx="4663440" cy="7589520"/>
          </a:xfrm>
          <a:prstGeom prst="roundRect">
            <a:avLst/>
          </a:prstGeom>
          <a:solidFill>
            <a:srgbClr val="15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960120"/>
            <a:ext cx="2606040" cy="1417320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75904" y="1170432"/>
            <a:ext cx="23134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6 MIỀN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75904" y="1673352"/>
            <a:ext cx="2313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BỨC TRANH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2606040"/>
            <a:ext cx="2331720" cy="1325880"/>
          </a:xfrm>
          <a:prstGeom prst="round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18904" y="2816352"/>
            <a:ext cx="203911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24 NLTP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3319272"/>
            <a:ext cx="2039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CHI TIẾT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142232"/>
            <a:ext cx="3246120" cy="1298448"/>
          </a:xfrm>
          <a:prstGeom prst="roundRect">
            <a:avLst/>
          </a:prstGeom>
          <a:solidFill>
            <a:srgbClr val="24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4352544"/>
            <a:ext cx="295351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CLO →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4855464"/>
            <a:ext cx="29535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MINH CHỨNG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749808"/>
            <a:ext cx="621792" cy="64008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033271"/>
            <a:ext cx="6812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3BED0"/>
                </a:solidFill>
                <a:latin typeface="Aptos"/>
              </a:rPr>
              <a:t>CẢM ƠN THẦY CÔ · HỎI ĐÁP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18488"/>
            <a:ext cx="6766560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CÙNG XÂY DỰNG CTĐT CÓ THỂ TRUY VẾT, THẢO LUẬN VÀ CẢI TIẾN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57600"/>
            <a:ext cx="630936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D2E1EC"/>
                </a:solidFill>
                <a:latin typeface="Aptos"/>
              </a:rPr>
              <a:t>Bản đồ là điểm bắt đầu cho đối thoại chuyên môn — không phải đích đến.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6766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BED0"/>
                </a:solidFill>
                <a:latin typeface="Aptos"/>
              </a:rPr>
              <a:t>DỮ LIỆU CHUẨN  ·  RÀ SOÁT CHUYÊN MÔN  ·  CẢI TIẾN CÓ LƯU VẾT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18504"/>
            <a:ext cx="9235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B2C6D6"/>
                </a:solidFill>
                <a:latin typeface="Aptos"/>
              </a:rPr>
              <a:t>Hỏi: sau hôm nay, học phần nào nên được thử rà soát đầu tiên?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2C6D6"/>
                </a:solidFill>
                <a:latin typeface="Aptos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Từ đề cương đến bản đồ năng lực số</dc:title>
  <dc:subject>Hướng dẫn triển khai dự án xây dựng và rà soát CTĐT theo ngành</dc:subject>
  <dc:creator>OpenAI - trợ lý soạn nội dung theo dự án CTĐT-NLS</dc:creator>
  <cp:keywords>CTĐT, NLS, ma trận 6 miền, 24 NLTP, CLO, hướng dẫn giáo viên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